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D3D"/>
                </a:solidFill>
              </a:defRPr>
            </a:pPr>
            <a:r>
              <a:t>Sales Performance: Data Story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6EA6"/>
                </a:solidFill>
              </a:defRPr>
            </a:pPr>
            <a:r>
              <a:t>ApexPlanet Data Analytics Internship — Task 4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Based on the cleaned sales dataset and Task 2–3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Dataset contains 1,000 sales transactions and 947 unique customers.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Total sales are ₹139.40M, with average sales of ₹139.4K per transaction.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Electronics is the largest category at ₹50.78M.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Patna leads the cities at ₹20.83M.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Monthly sales peak in March and are lowest in September.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The statistical test does not provide evidence that average transaction sales differ by gender.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The Business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What the analysis says about where sales are coming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Category concentration: Electronics contributes ₹50.8M, clearly ahead of the other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Geographic opportunity: Patna leads at ₹20.8M, while Pune and Gaya are the lowest among the eight cities shown.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Product strength: Laptop and Mobile are the top two products, each above ₹25M in sales.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Seasonality is visible: sales rise into March/June, fall sharply in August–September, then recover in Q4.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Management implication: protect high-performing categories/products while investigating the causes of the late-summer dip.</a:t>
            </a:r>
          </a:p>
        </p:txBody>
      </p:sp>
      <p:pic>
        <p:nvPicPr>
          <p:cNvPr id="5" name="Picture 4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17320"/>
            <a:ext cx="4480560" cy="2240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201168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26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664208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D3D"/>
                </a:solidFill>
              </a:defRPr>
            </a:pPr>
            <a:r>
              <a:t>₹139.40M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Total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08760"/>
            <a:ext cx="201168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26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90088" y="1664208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D3D"/>
                </a:solidFill>
              </a:defRPr>
            </a:pPr>
            <a:r>
              <a:t>1,000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508760"/>
            <a:ext cx="201168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26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76088" y="1664208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D3D"/>
                </a:solidFill>
              </a:defRPr>
            </a:pPr>
            <a:r>
              <a:t>947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08760"/>
            <a:ext cx="201168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26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664208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D3D"/>
                </a:solidFill>
              </a:defRPr>
            </a:pPr>
            <a:r>
              <a:t>₹139.4K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Avg. Sales /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508760"/>
            <a:ext cx="201168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26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48088" y="1664208"/>
            <a:ext cx="1783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D3D"/>
                </a:solidFill>
              </a:defRPr>
            </a:pPr>
            <a:r>
              <a:t>5.43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Avg.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These KPIs connect the EDA findings to the interactive dashboard created in Task 3.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They provide a compact view of scale, customer reach, transaction value and purchase quantity.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Business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Question: Do male and female customers generate different average sales per transaction?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H₀ (null): Mean Total_Sales is the same for male and female transactions.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H₁ (alternative): Mean Total_Sales is different between male and female transactions.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Significance level: α = 0.05.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Test selected: Welch's independent two-sample t-test, appropriate for comparing two group means without assuming equal variances.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Hypothesis Test Results</a:t>
            </a:r>
          </a:p>
        </p:txBody>
      </p:sp>
      <p:pic>
        <p:nvPicPr>
          <p:cNvPr id="3" name="Picture 2" descr="Task4_Gender_Average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760720" cy="3456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41732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Female mean: ₹136,883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Male mean: ₹141,807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Mean difference (Male − Female): ₹4,924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t-statistic: 0.683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p-value: 0.495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95% CI for the difference: ₹-9,232 to ₹19,080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Statistical Conclusion &amp; Business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Decision: Fail to reject H₀ because p = 0.495 &gt; 0.05.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The observed difference in average sales is not statistically significant at the 5% level.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The confidence interval crosses zero, so the data are consistent with no true difference in average transaction sales by gender.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Business takeaway: gender should not be treated as a proven driver of transaction value from this dataset alone.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Recommended next step: investigate category, product, city and time-period effects, which show stronger visible variation in the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Recommendations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Prioritize Electronics, Laptop and Mobile performance because they account for the strongest sales contribution.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Study Patna's success and test whether its customer/product mix can be replicated in lower-performing cities.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Investigate the August–September sales decline with campaign, inventory and demand data.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Use the Task 3 dashboard to monitor sales, customers, average transaction value and quantity over time.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For future testing, evaluate specific interventions such as promotions or pricing changes with a clear control group.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t>Methodology &amp; Data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Source: Cleaned_Sales_Dataset.xlsx used for the internship analysis.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EDA covered descriptive statistics, category/city/product analysis, monthly trends and correlations.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Task 3 added an interactive Power BI dashboard with core KPIs and visual analysis.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Task 4 uses the cleaned transaction-level data for hypothesis testing.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Statistical test: Welch's independent two-sample t-test; two-sided α = 0.05.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Results are descriptive of this dataset and should not be interpreted as causal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26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ApexPlanet Data Analytics Internship • Task 4 •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